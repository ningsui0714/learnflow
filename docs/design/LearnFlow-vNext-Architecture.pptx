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a02ba5bec74a56" /><Relationship Type="http://schemas.openxmlformats.org/officeDocument/2006/relationships/extended-properties" Target="/docProps/app.xml" Id="Rf06b17d67fdb4b15" /><Relationship Type="http://schemas.openxmlformats.org/officeDocument/2006/relationships/officeDocument" Target="/ppt/presentation.xml" Id="R579b4b2b569643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afa00b2fb94844"/>
  </p:sldMasterIdLst>
  <p:notesMasterIdLst>
    <p:notesMasterId xmlns:r="http://schemas.openxmlformats.org/officeDocument/2006/relationships" r:id="Rc1332aedef34431b"/>
  </p:notesMasterIdLst>
  <p:sldIdLst>
    <p:sldId xmlns:r="http://schemas.openxmlformats.org/officeDocument/2006/relationships" id="256" r:id="R77dc9e1ee99d405e"/>
    <p:sldId xmlns:r="http://schemas.openxmlformats.org/officeDocument/2006/relationships" id="257" r:id="R77c029f99b984a54"/>
    <p:sldId xmlns:r="http://schemas.openxmlformats.org/officeDocument/2006/relationships" id="258" r:id="R0e30363ef2ad4b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4874c44d30454a" /><Relationship Type="http://schemas.openxmlformats.org/officeDocument/2006/relationships/slideMaster" Target="/ppt/slideMasters/slideMaster1.xml" Id="Rd2afa00b2fb94844" /><Relationship Type="http://schemas.openxmlformats.org/officeDocument/2006/relationships/notesMaster" Target="/ppt/notesMasters/notesMaster1.xml" Id="Rc1332aedef34431b" /><Relationship Type="http://schemas.openxmlformats.org/officeDocument/2006/relationships/presProps" Target="/ppt/presProps.xml" Id="R5fbb9c296d5947e0" /><Relationship Type="http://schemas.openxmlformats.org/officeDocument/2006/relationships/tableStyles" Target="/ppt/tableStyles.xml" Id="R24254ba22340449d" /><Relationship Type="http://schemas.openxmlformats.org/officeDocument/2006/relationships/slide" Target="/ppt/slides/slide1.xml" Id="R77dc9e1ee99d405e" /><Relationship Type="http://schemas.openxmlformats.org/officeDocument/2006/relationships/slide" Target="/ppt/slides/slide2.xml" Id="R77c029f99b984a54" /><Relationship Type="http://schemas.openxmlformats.org/officeDocument/2006/relationships/slide" Target="/ppt/slides/slide3.xml" Id="R0e30363ef2ad4b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0ef996499549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04fef744d04276" /><Relationship Type="http://schemas.openxmlformats.org/officeDocument/2006/relationships/notesMaster" Target="/ppt/notesMasters/notesMaster1.xml" Id="Raed7841c80684e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4b3aea51da4fa8" /><Relationship Type="http://schemas.openxmlformats.org/officeDocument/2006/relationships/notesMaster" Target="/ppt/notesMasters/notesMaster1.xml" Id="Rd19aaf30776642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bc8b4ff1784d5d" /><Relationship Type="http://schemas.openxmlformats.org/officeDocument/2006/relationships/notesMaster" Target="/ppt/notesMasters/notesMaster1.xml" Id="R906b7368e74e40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docs/CHAT_MODE_PRODUCT_ARCHITECTURE.md</a:t>
            </a:r>
          </a:p>
          <a:p xmlns:a="http://schemas.openxmlformats.org/drawingml/2006/main">
            <a:r>
              <a:t>- docs/AGENT_CAPABILITY_FABRIC.md</a:t>
            </a:r>
          </a:p>
          <a:p xmlns:a="http://schemas.openxmlformats.org/drawingml/2006/main">
            <a:r>
              <a:t>- docs/LEARNING_TASK_RUNTIME.md</a:t>
            </a:r>
          </a:p>
          <a:p xmlns:a="http://schemas.openxmlformats.org/drawingml/2006/main">
            <a:r>
              <a:t>- docs/REVIEW_WORKBENCH.md</a:t>
            </a:r>
          </a:p>
          <a:p xmlns:a="http://schemas.openxmlformats.org/drawingml/2006/main">
            <a:r>
              <a:t>- docs/KNOWLEDGE_AND_LEARNING_FILES.md</a:t>
            </a:r>
          </a:p>
          <a:p xmlns:a="http://schemas.openxmlformats.org/drawingml/2006/main">
            <a:r>
              <a:t>- docs/VNEXT_PROJECT_SYSTEM.md</a:t>
            </a:r>
          </a:p>
          <a:p xmlns:a="http://schemas.openxmlformats.org/drawingml/2006/main">
            <a:r>
              <a:t>- backend/app/services/architecture_registry.py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docs/ARCHITECTURE_AUTHORITY.md</a:t>
            </a:r>
          </a:p>
          <a:p xmlns:a="http://schemas.openxmlformats.org/drawingml/2006/main">
            <a:r>
              <a:t>- docs/CHAT_MODE_PRODUCT_ARCHITECTURE.md</a:t>
            </a:r>
          </a:p>
          <a:p xmlns:a="http://schemas.openxmlformats.org/drawingml/2006/main">
            <a:r>
              <a:t>- docs/AGENT_CAPABILITY_FABRIC.md</a:t>
            </a:r>
          </a:p>
          <a:p xmlns:a="http://schemas.openxmlformats.org/drawingml/2006/main">
            <a:r>
              <a:t>- backend/app/services/architecture_registry.py</a:t>
            </a:r>
          </a:p>
          <a:p xmlns:a="http://schemas.openxmlformats.org/drawingml/2006/main">
            <a:r>
              <a:t>- vnext/src/main.tsx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docs/FIVE_KERNEL_MEMORY_GRAPH.md</a:t>
            </a:r>
          </a:p>
          <a:p xmlns:a="http://schemas.openxmlformats.org/drawingml/2006/main">
            <a:r>
              <a:t>- docs/ARCHITECTURE_AUTHORITY.md</a:t>
            </a:r>
          </a:p>
          <a:p xmlns:a="http://schemas.openxmlformats.org/drawingml/2006/main">
            <a:r>
              <a:t>- backend/app/services/architecture_registry.py</a:t>
            </a:r>
          </a:p>
          <a:p xmlns:a="http://schemas.openxmlformats.org/drawingml/2006/main">
            <a:r>
              <a:t>- backend/app/services/learning_runtime.py</a:t>
            </a:r>
          </a:p>
          <a:p xmlns:a="http://schemas.openxmlformats.org/drawingml/2006/main">
            <a:r>
              <a:t>- backend/app/services/memory_graph.py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977edfadf43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b38ea0070d4fde" /><Relationship Type="http://schemas.openxmlformats.org/officeDocument/2006/relationships/slideLayout" Target="/ppt/slideLayouts/slideLayout1.xml" Id="Rf1bc4923b2bc4f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bc4923b2bc4f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a6be3610f43a7" /><Relationship Type="http://schemas.openxmlformats.org/officeDocument/2006/relationships/notesSlide" Target="/ppt/notesSlides/notesSlide1.xml" Id="R2f6e264cd02f46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a2d36bbfd4f78" /><Relationship Type="http://schemas.openxmlformats.org/officeDocument/2006/relationships/notesSlide" Target="/ppt/notesSlides/notesSlide2.xml" Id="Ra9bc8a4c2fd44e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1c1adfa3c4423" /><Relationship Type="http://schemas.openxmlformats.org/officeDocument/2006/relationships/notesSlide" Target="/ppt/notesSlides/notesSlide3.xml" Id="R32d3bbbce8dd43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C46865-0A6F-45AE-8455-6722E649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B"/>
          </a:solidFill>
          <a:ln xmlns:a="http://schemas.openxmlformats.org/drawingml/2006/main" w="0">
            <a:solidFill>
              <a:srgbClr val="111B2B"/>
            </a:solidFill>
            <a:prstDash val="solid"/>
          </a:ln>
        </p:spPr>
      </p:sp>
      <p:sp>
        <p:nvSpPr>
          <p:cNvPr id="2" name="eyebrow-1">
            <a:extLst xmlns:a="http://schemas.openxmlformats.org/drawingml/2006/main">
              <a:ext uri="{FF2B5EF4-FFF2-40B4-BE49-F238E27FC236}">
                <a16:creationId xmlns:a16="http://schemas.microsoft.com/office/drawing/2014/main" id="{D78681F6-144A-4322-AFB3-B1A6C931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LEARNFLOW · VNEXT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D4BDE6A8-9CFA-49BC-ABAA-4220EEE3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一个入口，六个正式学习空间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17618443-11B0-425E-9E37-B81A06A1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对话负责协调；任务、复习、路径、记忆与文件各自保持权威。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DF865-5289-49EA-BFBA-B2E968CA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01 / 03</a:t>
            </a:r>
          </a:p>
        </p:txBody>
      </p:sp>
      <p:sp>
        <p:nvSpPr>
          <p:cNvPr id="6" name="overview-agent">
            <a:extLst xmlns:a="http://schemas.openxmlformats.org/drawingml/2006/main">
              <a:ext uri="{FF2B5EF4-FFF2-40B4-BE49-F238E27FC236}">
                <a16:creationId xmlns:a16="http://schemas.microsoft.com/office/drawing/2014/main" id="{FC5AAEA1-6CC0-40E7-928B-35293BAE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286000" cy="176212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087A53"/>
          </a:solidFill>
          <a:ln xmlns:a="http://schemas.openxmlformats.org/drawingml/2006/main" w="9525">
            <a:solidFill>
              <a:srgbClr val="087A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BEA77-465A-4A9A-A44B-8A40D7FE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90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对话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84320-846C-4C49-A9F4-1FE1432F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125" b="1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free · explain · learn ·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9EB90-E5E0-4D71-BF0E-CF2564C8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905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识别意图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协调空间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回到原学习现场</a:t>
            </a:r>
          </a:p>
        </p:txBody>
      </p:sp>
      <p:sp>
        <p:nvSpPr>
          <p:cNvPr id="10" name="overview-conversation">
            <a:extLst xmlns:a="http://schemas.openxmlformats.org/drawingml/2006/main">
              <a:ext uri="{FF2B5EF4-FFF2-40B4-BE49-F238E27FC236}">
                <a16:creationId xmlns:a16="http://schemas.microsoft.com/office/drawing/2014/main" id="{EF7766CE-6CCD-42AB-BA1E-1DC85C8F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47850"/>
            <a:ext cx="2476500" cy="168592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C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8DAA2-9597-4E6C-AD41-52F80C81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47850"/>
            <a:ext cx="6667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53"/>
          </a:solidFill>
          <a:ln xmlns:a="http://schemas.openxmlformats.org/drawingml/2006/main" w="0">
            <a:solidFill>
              <a:srgbClr val="087A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BE5FE-671B-4B6B-AFC5-50CB996D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对话与项目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38D7F-E5AC-449C-B5AA-05A1E6F9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38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1125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Session / Project /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34271-08A4-4578-B61B-D0EB59B5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对话连续性 · 项目目标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关卡范围 · 返回锚点</a:t>
            </a:r>
          </a:p>
        </p:txBody>
      </p:sp>
      <p:sp>
        <p:nvSpPr>
          <p:cNvPr id="15" name="overview-tasks">
            <a:extLst xmlns:a="http://schemas.openxmlformats.org/drawingml/2006/main">
              <a:ext uri="{FF2B5EF4-FFF2-40B4-BE49-F238E27FC236}">
                <a16:creationId xmlns:a16="http://schemas.microsoft.com/office/drawing/2014/main" id="{B0E56B87-9759-4DE9-9B3C-CC79C897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2381250" cy="168592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B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2EDA1-6BF5-4869-8589-9A389394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6667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D"/>
          </a:solidFill>
          <a:ln xmlns:a="http://schemas.openxmlformats.org/drawingml/2006/main" w="0">
            <a:solidFill>
              <a:srgbClr val="315E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F61D2-9C77-488E-A60D-B4F73336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学习任务队列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6B962-3C35-4625-830A-0B4B2B64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38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1125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LearningTask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A3571-415E-4758-9385-884DBFE2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原子目标 · 四阶段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暂停 / 恢复 / 返回来源</a:t>
            </a:r>
          </a:p>
        </p:txBody>
      </p:sp>
      <p:sp>
        <p:nvSpPr>
          <p:cNvPr id="20" name="overview-review">
            <a:extLst xmlns:a="http://schemas.openxmlformats.org/drawingml/2006/main">
              <a:ext uri="{FF2B5EF4-FFF2-40B4-BE49-F238E27FC236}">
                <a16:creationId xmlns:a16="http://schemas.microsoft.com/office/drawing/2014/main" id="{D8F39A7A-B0C8-4908-B406-19843C2E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2381250" cy="168592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C98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57877-8699-4176-A66E-3A7E844E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6667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D12"/>
          </a:solidFill>
          <a:ln xmlns:a="http://schemas.openxmlformats.org/drawingml/2006/main" w="0">
            <a:solidFill>
              <a:srgbClr val="9B6D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002FB-2593-43E7-B8E2-77397ECE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83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复习工作台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27C451-99A6-4748-83B9-FA44D0B5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1125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ReviewSchedule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D6DFE-D1F5-4B70-A2A4-C94FCA09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到期 · 纠错 · 变式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间隔稳定与风险重排</a:t>
            </a:r>
          </a:p>
        </p:txBody>
      </p:sp>
      <p:cxnSp>
        <p:nvCxnSpPr>
          <p:cNvPr id="80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33700" y="2690813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53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48350" y="26908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E9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82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686800" y="26908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B6D12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B90D0B-C7F2-46C7-97BB-D9E968FC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57600"/>
            <a:ext cx="91440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持续上下文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79B6A-3011-424C-ABB8-BF517CD9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57600"/>
            <a:ext cx="80010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315E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15E9D"/>
                </a:solidFill>
                <a:latin typeface="PingFang SC"/>
                <a:ea typeface="PingFang SC"/>
                <a:cs typeface="PingFang SC"/>
              </a:rPr>
              <a:t>原子执行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A67723-6D26-4E66-BF3B-242E98D7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57600"/>
            <a:ext cx="91440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9B6D1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B6D12"/>
                </a:solidFill>
                <a:latin typeface="PingFang SC"/>
                <a:ea typeface="PingFang SC"/>
                <a:cs typeface="PingFang SC"/>
              </a:rPr>
              <a:t>验证后转交</a:t>
            </a:r>
          </a:p>
        </p:txBody>
      </p:sp>
      <p:sp>
        <p:nvSpPr>
          <p:cNvPr id="31" name="overview-path">
            <a:extLst xmlns:a="http://schemas.openxmlformats.org/drawingml/2006/main">
              <a:ext uri="{FF2B5EF4-FFF2-40B4-BE49-F238E27FC236}">
                <a16:creationId xmlns:a16="http://schemas.microsoft.com/office/drawing/2014/main" id="{328618BC-20B6-49C4-8AE4-6F07A09F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2571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1EEFE"/>
          </a:solidFill>
          <a:ln xmlns:a="http://schemas.openxmlformats.org/drawingml/2006/main" w="11430">
            <a:solidFill>
              <a:srgbClr val="C7BD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D39319-6217-40FB-8042-8E057223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529B"/>
          </a:solidFill>
          <a:ln xmlns:a="http://schemas.openxmlformats.org/drawingml/2006/main" w="0">
            <a:solidFill>
              <a:srgbClr val="64529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E469E1-13E4-43CE-AA65-602D8FA9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05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学习路径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306E53-5847-4E64-BB4E-4C7FF6C7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Official DAG + Personal overlay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AFA899-70B6-445A-956A-7AA22759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482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前置关系 · 长期路线 · 当前下一跳</a:t>
            </a:r>
          </a:p>
        </p:txBody>
      </p:sp>
      <p:sp>
        <p:nvSpPr>
          <p:cNvPr id="36" name="overview-memory">
            <a:extLst xmlns:a="http://schemas.openxmlformats.org/drawingml/2006/main">
              <a:ext uri="{FF2B5EF4-FFF2-40B4-BE49-F238E27FC236}">
                <a16:creationId xmlns:a16="http://schemas.microsoft.com/office/drawing/2014/main" id="{11D2A94C-043D-458A-A0A8-7AB5A387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10100"/>
            <a:ext cx="2571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7F3EB"/>
          </a:solidFill>
          <a:ln xmlns:a="http://schemas.openxmlformats.org/drawingml/2006/main" w="11430">
            <a:solidFill>
              <a:srgbClr val="A9C7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8546F3-3944-4B04-BA47-4C697B7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10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53"/>
          </a:solidFill>
          <a:ln xmlns:a="http://schemas.openxmlformats.org/drawingml/2006/main" w="0">
            <a:solidFill>
              <a:srgbClr val="087A5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480502-6A53-430D-888C-4282CF71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705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五核记忆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AD8A89-924B-4457-AEB9-13BD0958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006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Event → Fact → Module → Claim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AD37E2-6EAF-4733-B761-954CD540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2482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有 scope、可检查、可纠正</a:t>
            </a:r>
          </a:p>
        </p:txBody>
      </p:sp>
      <p:sp>
        <p:nvSpPr>
          <p:cNvPr id="41" name="overview-files">
            <a:extLst xmlns:a="http://schemas.openxmlformats.org/drawingml/2006/main">
              <a:ext uri="{FF2B5EF4-FFF2-40B4-BE49-F238E27FC236}">
                <a16:creationId xmlns:a16="http://schemas.microsoft.com/office/drawing/2014/main" id="{5A4C0FBB-C40A-4C22-B1BD-529884C9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571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11430">
            <a:solidFill>
              <a:srgbClr val="B9CB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976A34-70BC-42A3-A59E-E5550415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45F4C8-F1FB-4FAC-822E-AF0D9C2A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05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文件系统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3D4A6A-3E84-44A3-977A-8953C6F7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006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Source / Lecture / Exercise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81662B-A856-4F8B-9DBA-E871B6DC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482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来源、讲义、练习与项目文件</a:t>
            </a:r>
          </a:p>
        </p:txBody>
      </p:sp>
      <p:cxnSp>
        <p:nvCxnSpPr>
          <p:cNvPr id="101" name=""/>
          <p:cNvCxnSpPr>
            <a:stCxn xmlns:a="http://schemas.openxmlformats.org/drawingml/2006/main" id="31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2619375" y="3533775"/>
            <a:ext cx="1990725" cy="1076325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64529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36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790700" y="3571875"/>
            <a:ext cx="4305300" cy="1038225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087A53"/>
            </a:solidFill>
            <a:prstDash val="dash"/>
            <a:headEnd type="arrow" w="sm" len="sm"/>
            <a:tailEnd type="arrow" w="med" len="med"/>
          </a:ln>
        </p:spPr>
      </p:cxnSp>
      <p:cxnSp>
        <p:nvCxnSpPr>
          <p:cNvPr id="103" name=""/>
          <p:cNvCxnSpPr>
            <a:stCxn xmlns:a="http://schemas.openxmlformats.org/drawingml/2006/main" id="41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H="1" flipV="1">
            <a:off x="7496175" y="3533775"/>
            <a:ext cx="2076450" cy="1076325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203149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04" name=""/>
          <p:cNvCxnSpPr>
            <a:stCxn xmlns:a="http://schemas.openxmlformats.org/drawingml/2006/main" id="20" idx="2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7381875" y="3533775"/>
            <a:ext cx="2952750" cy="16383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0955">
            <a:solidFill>
              <a:srgbClr val="9B6D12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987337-43D1-49A9-BFE6-96B3FCE8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05275"/>
            <a:ext cx="60960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64529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529B"/>
                </a:solidFill>
                <a:latin typeface="PingFang SC"/>
                <a:ea typeface="PingFang SC"/>
                <a:cs typeface="PingFang SC"/>
              </a:rPr>
              <a:t>导航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2EBC07-FE38-42F6-92A8-02525CD8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14800"/>
            <a:ext cx="89535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读取 / 事件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A5FD2E-07D6-44F0-8E3B-50CE0478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95250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20314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03149"/>
                </a:solidFill>
                <a:latin typeface="PingFang SC"/>
                <a:ea typeface="PingFang SC"/>
                <a:cs typeface="PingFang SC"/>
              </a:rPr>
              <a:t>来源与产物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A863E8-835A-4905-8338-A8386099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91125"/>
            <a:ext cx="74295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9B6D1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B6D12"/>
                </a:solidFill>
                <a:latin typeface="PingFang SC"/>
                <a:ea typeface="PingFang SC"/>
                <a:cs typeface="PingFang SC"/>
              </a:rPr>
              <a:t>复习证据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5CED08-531E-4B1B-9F0D-83A7CA4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96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0">
            <a:solidFill>
              <a:srgbClr val="111B2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99C167-78D4-40B5-9ED9-9E8FFE2B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007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生成、阅读与任务完成都不等于掌握；正式作答和验证才进入证据链。</a:t>
            </a:r>
          </a:p>
        </p:txBody>
      </p:sp>
    </p:spTree>
    <p:extLst>
      <p:ext uri="{BB962C8B-B14F-4D97-AF65-F5344CB8AC3E}">
        <p14:creationId xmlns:p14="http://schemas.microsoft.com/office/powerpoint/2010/main" val="1802682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947CB2-CCF7-49D4-8B66-A35EAAF3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B"/>
          </a:solidFill>
          <a:ln xmlns:a="http://schemas.openxmlformats.org/drawingml/2006/main" w="0">
            <a:solidFill>
              <a:srgbClr val="111B2B"/>
            </a:solidFill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77AC49F4-4C54-4022-B83D-E1E9111B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LEARNFLOW · VNEXT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6BCB52B9-D30C-44A0-B93B-C5EF989A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四种状态，共用一组受约束工具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83AD48F2-83A4-447D-B16D-5AC3B9FA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状态决定本轮目标；工具只读取、生成产物或提交待确认提案。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07147-8378-40AA-9211-D171E664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02 / 03</a:t>
            </a:r>
          </a:p>
        </p:txBody>
      </p:sp>
      <p:sp>
        <p:nvSpPr>
          <p:cNvPr id="6" name="state-free">
            <a:extLst xmlns:a="http://schemas.openxmlformats.org/drawingml/2006/main">
              <a:ext uri="{FF2B5EF4-FFF2-40B4-BE49-F238E27FC236}">
                <a16:creationId xmlns:a16="http://schemas.microsoft.com/office/drawing/2014/main" id="{305B7F0A-E7D7-4242-85E6-1712FDB8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724150" cy="2333625"/>
          </a:xfrm>
          <a:prstGeom xmlns:a="http://schemas.openxmlformats.org/drawingml/2006/main" prst="roundRect">
            <a:avLst>
              <a:gd name="adj" fmla="val 8980"/>
            </a:avLst>
          </a:prstGeom>
          <a:solidFill xmlns:a="http://schemas.openxmlformats.org/drawingml/2006/main">
            <a:srgbClr val="087A53"/>
          </a:solidFill>
          <a:ln xmlns:a="http://schemas.openxmlformats.org/drawingml/2006/main" w="9525">
            <a:solidFill>
              <a:srgbClr val="087A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98238-58D3-4675-B6A8-4BB59012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2325" b="1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free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9FE5F-6ABD-4B3E-9073-4680C075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自由探索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72974-5946-4ACD-AA1B-F4DFE474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E5F6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5F6EC"/>
                </a:solidFill>
                <a:latin typeface="PingFang SC"/>
                <a:ea typeface="PingFang SC"/>
                <a:cs typeface="PingFang SC"/>
              </a:rPr>
              <a:t>开放问题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E5F6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5F6EC"/>
                </a:solidFill>
                <a:latin typeface="PingFang SC"/>
                <a:ea typeface="PingFang SC"/>
                <a:cs typeface="PingFang SC"/>
              </a:rPr>
              <a:t>收敛意图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>
                <a:solidFill>
                  <a:srgbClr val="E5F6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5F6EC"/>
                </a:solidFill>
                <a:latin typeface="PingFang SC"/>
                <a:ea typeface="PingFang SC"/>
                <a:cs typeface="PingFang SC"/>
              </a:rPr>
              <a:t>选择下一种状态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6FC00-3149-4308-9C41-F9C1CE2E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BDE5C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DE5CD"/>
                </a:solidFill>
                <a:latin typeface="PingFang SC"/>
                <a:ea typeface="PingFang SC"/>
                <a:cs typeface="PingFang SC"/>
              </a:rPr>
              <a:t>其余状态结束后回到这里</a:t>
            </a:r>
          </a:p>
        </p:txBody>
      </p:sp>
      <p:sp>
        <p:nvSpPr>
          <p:cNvPr id="11" name="state-explain">
            <a:extLst xmlns:a="http://schemas.openxmlformats.org/drawingml/2006/main">
              <a:ext uri="{FF2B5EF4-FFF2-40B4-BE49-F238E27FC236}">
                <a16:creationId xmlns:a16="http://schemas.microsoft.com/office/drawing/2014/main" id="{B39225D2-BD8C-46D0-93AD-B2BA9CC3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66850"/>
            <a:ext cx="3143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5DC"/>
          </a:solidFill>
          <a:ln xmlns:a="http://schemas.openxmlformats.org/drawingml/2006/main" w="11430">
            <a:solidFill>
              <a:srgbClr val="9B6D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B0456-985D-41A9-B4E6-5A969A8E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90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9B6D12"/>
                </a:solidFill>
                <a:latin typeface="SFMono-Regular"/>
                <a:ea typeface="SFMono-Regular"/>
                <a:cs typeface="SFMono-Regular"/>
              </a:defRPr>
            </a:pPr>
            <a:r>
              <a:rPr sz="1275" b="1">
                <a:solidFill>
                  <a:srgbClr val="9B6D12"/>
                </a:solidFill>
                <a:latin typeface="SFMono-Regular"/>
                <a:ea typeface="SFMono-Regular"/>
                <a:cs typeface="SFMono-Regular"/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7DB9A-5BC8-4F41-BA9B-8D1F053A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71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简单讲解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7A6CB-3E41-4980-B1A0-6CA8CF2E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050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定义 · 区别 · 最小示例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2443A-39E6-488A-9D9F-721D9D63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050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1">
                <a:solidFill>
                  <a:srgbClr val="9B6D1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B6D12"/>
                </a:solidFill>
                <a:latin typeface="PingFang SC"/>
                <a:ea typeface="PingFang SC"/>
                <a:cs typeface="PingFang SC"/>
              </a:rPr>
              <a:t>交付后返回</a:t>
            </a:r>
          </a:p>
        </p:txBody>
      </p:sp>
      <p:cxnSp>
        <p:nvCxnSpPr>
          <p:cNvPr id="72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371850" y="1838325"/>
            <a:ext cx="914400" cy="9096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9B6D12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7" name="state-learn">
            <a:extLst xmlns:a="http://schemas.openxmlformats.org/drawingml/2006/main">
              <a:ext uri="{FF2B5EF4-FFF2-40B4-BE49-F238E27FC236}">
                <a16:creationId xmlns:a16="http://schemas.microsoft.com/office/drawing/2014/main" id="{20FE89EB-25AA-4965-83FF-1A986240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52675"/>
            <a:ext cx="3143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11430">
            <a:solidFill>
              <a:srgbClr val="315E9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279B5-1282-450C-B53E-51BE518C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15E9D"/>
                </a:solidFill>
                <a:latin typeface="SFMono-Regular"/>
                <a:ea typeface="SFMono-Regular"/>
                <a:cs typeface="SFMono-Regular"/>
              </a:defRPr>
            </a:pPr>
            <a:r>
              <a:rPr sz="1275" b="1">
                <a:solidFill>
                  <a:srgbClr val="315E9D"/>
                </a:solidFill>
                <a:latin typeface="SFMono-Regular"/>
                <a:ea typeface="SFMono-Regular"/>
                <a:cs typeface="SFMono-Regular"/>
              </a:rPr>
              <a:t>learn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327DB-B426-4EA1-8915-D08C5430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57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学习任务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AFDE6-8493-4F2D-81B0-E6735094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9082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原子目标 · 已有任务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5CEE0B-9B7C-4122-81D0-3D637B48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908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1">
                <a:solidFill>
                  <a:srgbClr val="315E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15E9D"/>
                </a:solidFill>
                <a:latin typeface="PingFang SC"/>
                <a:ea typeface="PingFang SC"/>
                <a:cs typeface="PingFang SC"/>
              </a:rPr>
              <a:t>验证 / 退出</a:t>
            </a:r>
          </a:p>
        </p:txBody>
      </p:sp>
      <p:cxnSp>
        <p:nvCxnSpPr>
          <p:cNvPr id="78" name=""/>
          <p:cNvCxnSpPr>
            <a:stCxn xmlns:a="http://schemas.openxmlformats.org/drawingml/2006/main" id="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3371850" y="2724150"/>
            <a:ext cx="914400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315E9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state-plan">
            <a:extLst xmlns:a="http://schemas.openxmlformats.org/drawingml/2006/main">
              <a:ext uri="{FF2B5EF4-FFF2-40B4-BE49-F238E27FC236}">
                <a16:creationId xmlns:a16="http://schemas.microsoft.com/office/drawing/2014/main" id="{922F3633-11BA-42DD-A015-C62B93E3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3143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1EEFE"/>
          </a:solidFill>
          <a:ln xmlns:a="http://schemas.openxmlformats.org/drawingml/2006/main" w="11430">
            <a:solidFill>
              <a:srgbClr val="6452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40624-75CB-4E82-803A-C9EF3642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623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64529B"/>
                </a:solidFill>
                <a:latin typeface="SFMono-Regular"/>
                <a:ea typeface="SFMono-Regular"/>
                <a:cs typeface="SFMono-Regular"/>
              </a:defRPr>
            </a:pPr>
            <a:r>
              <a:rPr sz="1275" b="1">
                <a:solidFill>
                  <a:srgbClr val="64529B"/>
                </a:solidFill>
                <a:latin typeface="SFMono-Regular"/>
                <a:ea typeface="SFMono-Regular"/>
                <a:cs typeface="SFMono-Regular"/>
              </a:rPr>
              <a:t>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05D536-4621-4D21-BB16-EC264BB9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432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学习规划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00832-50CF-4852-A375-EFFE74AF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766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多任务 · 项目 · 长期目标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92BA3-256E-429E-9040-D22FC013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766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1">
                <a:solidFill>
                  <a:srgbClr val="64529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529B"/>
                </a:solidFill>
                <a:latin typeface="PingFang SC"/>
                <a:ea typeface="PingFang SC"/>
                <a:cs typeface="PingFang SC"/>
              </a:rPr>
              <a:t>提案后返回</a:t>
            </a:r>
          </a:p>
        </p:txBody>
      </p:sp>
      <p:cxnSp>
        <p:nvCxnSpPr>
          <p:cNvPr id="84" name=""/>
          <p:cNvCxnSpPr>
            <a:stCxn xmlns:a="http://schemas.openxmlformats.org/drawingml/2006/main" id="6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371850" y="2747963"/>
            <a:ext cx="914400" cy="8620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4529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1C15A8-A82C-4958-BCF9-E06AD2D1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66850"/>
            <a:ext cx="36766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9B6D1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FF2915-B789-403E-BED8-57F9418E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668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D12"/>
          </a:solidFill>
          <a:ln xmlns:a="http://schemas.openxmlformats.org/drawingml/2006/main" w="0">
            <a:solidFill>
              <a:srgbClr val="9B6D1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42387A-EE30-44F1-BBE0-BA6A09E8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716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资料 / 搜索 / 图解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6B7592-713E-4BF4-B40F-9A2C0DDA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859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9B6D12"/>
                </a:solidFill>
                <a:latin typeface="SFMono-Regular"/>
                <a:ea typeface="SFMono-Regular"/>
                <a:cs typeface="SFMono-Regular"/>
              </a:defRPr>
            </a:pPr>
            <a:r>
              <a:rPr sz="825" b="0">
                <a:solidFill>
                  <a:srgbClr val="9B6D12"/>
                </a:solidFill>
                <a:latin typeface="SFMono-Regular"/>
                <a:ea typeface="SFMono-Regular"/>
                <a:cs typeface="SFMono-Regular"/>
              </a:rPr>
              <a:t>domain reader · search · visual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2EBA56-C78E-456D-B2D4-3BD37CBD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6764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9B6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9B6D12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9E6933-EB8D-4DE5-874E-767D2955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562100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Source · Chunk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Evidence · SVG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68DB4A-880D-44B5-B5BC-07EDAB7B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52675"/>
            <a:ext cx="36766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315E9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3E21B4-45B4-4514-A6AC-04D681F2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526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D"/>
          </a:solidFill>
          <a:ln xmlns:a="http://schemas.openxmlformats.org/drawingml/2006/main" w="0">
            <a:solidFill>
              <a:srgbClr val="315E9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CF6177-57E5-438D-928A-6CA3CA28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任务 / 复习 / 文件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BA5DAD-65C8-40E8-B1DE-3EF1AF75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71775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315E9D"/>
                </a:solidFill>
                <a:latin typeface="SFMono-Regular"/>
                <a:ea typeface="SFMono-Regular"/>
                <a:cs typeface="SFMono-Regular"/>
              </a:defRPr>
            </a:pPr>
            <a:r>
              <a:rPr sz="825" b="0">
                <a:solidFill>
                  <a:srgbClr val="315E9D"/>
                </a:solidFill>
                <a:latin typeface="SFMono-Regular"/>
                <a:ea typeface="SFMono-Regular"/>
                <a:cs typeface="SFMono-Regular"/>
              </a:rPr>
              <a:t>workspace · review · file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FD194C-340B-4471-9617-7C0D0426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5622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315E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5E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CAD6D1-16A2-4A3A-BED9-9315E35E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47925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Task · Attempt · Review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Lecture · Exercise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863C7A-F89C-4151-8BA6-9A5F48E4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38500"/>
            <a:ext cx="36766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64529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EB7291-EEC2-410E-9FEE-47F480D1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38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529B"/>
          </a:solidFill>
          <a:ln xmlns:a="http://schemas.openxmlformats.org/drawingml/2006/main" w="0">
            <a:solidFill>
              <a:srgbClr val="64529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A239D4-887A-4DD7-BD0E-6E85541A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路径 / 项目 / 路线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EEF127-E81B-4330-9092-243CA3B0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5760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4529B"/>
                </a:solidFill>
                <a:latin typeface="SFMono-Regular"/>
                <a:ea typeface="SFMono-Regular"/>
                <a:cs typeface="SFMono-Regular"/>
              </a:defRPr>
            </a:pPr>
            <a:r>
              <a:rPr sz="825" b="0">
                <a:solidFill>
                  <a:srgbClr val="64529B"/>
                </a:solidFill>
                <a:latin typeface="SFMono-Regular"/>
                <a:ea typeface="SFMono-Regular"/>
                <a:cs typeface="SFMono-Regular"/>
              </a:rPr>
              <a:t>path · project · roadmap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38053E-3EAA-487B-BFED-DB4B2A19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448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64529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4529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269708-CA5E-49D8-BE50-9EB2750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33750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DAG · Plan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Project · Roadmap</a:t>
            </a:r>
          </a:p>
        </p:txBody>
      </p:sp>
      <p:sp>
        <p:nvSpPr>
          <p:cNvPr id="47" name="always-read-strip">
            <a:extLst xmlns:a="http://schemas.openxmlformats.org/drawingml/2006/main">
              <a:ext uri="{FF2B5EF4-FFF2-40B4-BE49-F238E27FC236}">
                <a16:creationId xmlns:a16="http://schemas.microsoft.com/office/drawing/2014/main" id="{91E3B568-149A-439D-9F18-ECF15CDB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108966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0">
            <a:solidFill>
              <a:srgbClr val="111B2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D908E4-B90E-4640-9065-9BE08B1A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8FE0B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8FE0B2"/>
                </a:solidFill>
                <a:latin typeface="PingFang SC"/>
                <a:ea typeface="PingFang SC"/>
                <a:cs typeface="PingFang SC"/>
              </a:rPr>
              <a:t>每轮先读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95CD05-03F2-401D-94E0-E4E66736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29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五核上下文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ECBD39-CC16-4653-8C03-B633B421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638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8FA0B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FA0B7"/>
                </a:solidFill>
                <a:latin typeface="PingFang SC"/>
                <a:ea typeface="PingFang SC"/>
                <a:cs typeface="PingFang SC"/>
              </a:rPr>
              <a:t>+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7E6D17-8447-4E32-954F-E3C026A7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29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学习工作区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A3DC33-22E6-479E-BC06-E1B3D7D5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386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8FE0B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FE0B2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E87DC9-C72A-4048-9091-A987FED2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D9E4E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200" b="1">
                <a:solidFill>
                  <a:srgbClr val="D9E4EF"/>
                </a:solidFill>
                <a:latin typeface="SFMono-Regular"/>
                <a:ea typeface="SFMono-Regular"/>
                <a:cs typeface="SFMono-Regular"/>
              </a:rPr>
              <a:t>KernelHead / Memory Graph / ContextPacket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136C07-ACD6-4743-AA41-99009009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8157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EBCC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125" b="0">
                <a:solidFill>
                  <a:srgbClr val="AEBCCF"/>
                </a:solidFill>
                <a:latin typeface="SFMono-Regular"/>
                <a:ea typeface="SFMono-Regular"/>
                <a:cs typeface="SFMono-Regular"/>
              </a:rPr>
              <a:t>Conversation / Project / LearningTask / ReviewSchedule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28D53D-362A-4508-ACC8-0AA2C876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1019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15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3E8AA2-0676-4EDE-A5B2-FD877E06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19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D8E4D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E4DD"/>
                </a:solidFill>
                <a:latin typeface="PingFang SC"/>
                <a:ea typeface="PingFang SC"/>
                <a:cs typeface="PingFang SC"/>
              </a:rPr>
              <a:t>写入、应用路线、生成文件：通过确定性 runtime 与明确确认；工具观察本身不改变掌握。</a:t>
            </a:r>
          </a:p>
        </p:txBody>
      </p:sp>
    </p:spTree>
    <p:extLst>
      <p:ext uri="{BB962C8B-B14F-4D97-AF65-F5344CB8AC3E}">
        <p14:creationId xmlns:p14="http://schemas.microsoft.com/office/powerpoint/2010/main" val="17627149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12ABF52-B13F-4A5F-9689-CB4938A2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B"/>
          </a:solidFill>
          <a:ln xmlns:a="http://schemas.openxmlformats.org/drawingml/2006/main" w="0">
            <a:solidFill>
              <a:srgbClr val="111B2B"/>
            </a:solidFill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56EAA379-0418-4668-93B7-05FC62E2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LEARNFLOW · VNEXT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19DF2E53-A18D-47DD-BBFD-44C8C7CA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五核共享骨架，但不共享结论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95E8A916-EEE6-49FF-99DF-6E0832CC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同一事件可以进入多个核；每个核只回答自己的问题。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5570A-7392-420E-B0E8-25B8450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03 /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E4512-E902-410A-9BEC-78E7F338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原始证据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B5AC4-75B9-4A77-A61A-5DDF21C9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71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167A7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7A78"/>
                </a:solidFill>
                <a:latin typeface="PingFang SC"/>
                <a:ea typeface="PingFang SC"/>
                <a:cs typeface="PingFang SC"/>
              </a:rPr>
              <a:t>版本化记忆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6367A-7C78-4334-A00C-CDEEF001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7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当前声明</a:t>
            </a:r>
          </a:p>
        </p:txBody>
      </p:sp>
      <p:sp>
        <p:nvSpPr>
          <p:cNvPr id="9" name="memory-event">
            <a:extLst xmlns:a="http://schemas.openxmlformats.org/drawingml/2006/main">
              <a:ext uri="{FF2B5EF4-FFF2-40B4-BE49-F238E27FC236}">
                <a16:creationId xmlns:a16="http://schemas.microsoft.com/office/drawing/2014/main" id="{9F8E0BF5-26EE-4084-BC4C-4D2E6BC2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476375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38058-7149-4D00-9B69-82A8BCC5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695BD-EBA5-40EB-A694-4560D6B2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EvidenceEvent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7875C-C9A4-4F6E-915D-F79B9A6D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095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动作账本</a:t>
            </a:r>
          </a:p>
        </p:txBody>
      </p:sp>
      <p:sp>
        <p:nvSpPr>
          <p:cNvPr id="13" name="memory-fact">
            <a:extLst xmlns:a="http://schemas.openxmlformats.org/drawingml/2006/main">
              <a:ext uri="{FF2B5EF4-FFF2-40B4-BE49-F238E27FC236}">
                <a16:creationId xmlns:a16="http://schemas.microsoft.com/office/drawing/2014/main" id="{ED3D5C89-34C3-44C5-A88C-2BBB5612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657350"/>
            <a:ext cx="1476375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E1284-E99B-4261-A528-85A35DCF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752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B709C-AD50-4E39-ACEA-9E60E12E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47875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MemoryFact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AE53D-E4D2-4D6D-AB5B-8BAF4B66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95525"/>
            <a:ext cx="1095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分核原子事实</a:t>
            </a:r>
          </a:p>
        </p:txBody>
      </p:sp>
      <p:sp>
        <p:nvSpPr>
          <p:cNvPr id="17" name="memory-module-v1">
            <a:extLst xmlns:a="http://schemas.openxmlformats.org/drawingml/2006/main">
              <a:ext uri="{FF2B5EF4-FFF2-40B4-BE49-F238E27FC236}">
                <a16:creationId xmlns:a16="http://schemas.microsoft.com/office/drawing/2014/main" id="{CA23D56F-7C22-4513-B157-A027A535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8115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2383">
            <a:solidFill>
              <a:srgbClr val="94CB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E19C1-C931-4E08-85CD-86565834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76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Module 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BB85F-056C-46C3-9D49-D5179D49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716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不可变快照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67681-52B6-4700-BDB8-01B558BD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19325"/>
            <a:ext cx="142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同 learner / kernel / subject</a:t>
            </a:r>
          </a:p>
        </p:txBody>
      </p:sp>
      <p:sp>
        <p:nvSpPr>
          <p:cNvPr id="21" name="memory-module-v2">
            <a:extLst xmlns:a="http://schemas.openxmlformats.org/drawingml/2006/main">
              <a:ext uri="{FF2B5EF4-FFF2-40B4-BE49-F238E27FC236}">
                <a16:creationId xmlns:a16="http://schemas.microsoft.com/office/drawing/2014/main" id="{0E84B7B2-059A-4DD8-AB21-94573770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8115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5240">
            <a:solidFill>
              <a:srgbClr val="167A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1CCC7-A0A2-4F5F-ACA1-825BDA86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Module V2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EC0DE-33EA-4178-BB16-B4162024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716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继承证据 + delta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F4BDA1-6CF0-40AE-8325-20B6D9E4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19325"/>
            <a:ext cx="142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REFINES / SUPERSEDES</a:t>
            </a:r>
          </a:p>
        </p:txBody>
      </p:sp>
      <p:sp>
        <p:nvSpPr>
          <p:cNvPr id="25" name="memory-claim">
            <a:extLst xmlns:a="http://schemas.openxmlformats.org/drawingml/2006/main">
              <a:ext uri="{FF2B5EF4-FFF2-40B4-BE49-F238E27FC236}">
                <a16:creationId xmlns:a16="http://schemas.microsoft.com/office/drawing/2014/main" id="{82FDC22C-2EE7-408A-86AB-46B30A89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6479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7F3EB"/>
          </a:solidFill>
          <a:ln xmlns:a="http://schemas.openxmlformats.org/drawingml/2006/main" w="14288">
            <a:solidFill>
              <a:srgbClr val="087A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8E5730-5036-4043-AE88-371168A2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764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Claim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ABB8C0-E90D-43A6-A574-88FE6992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71675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MemoryClaim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9B42C-2E72-4F04-B52C-CCF61075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19325"/>
            <a:ext cx="2266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可单独检查 · 直接回到 Fact</a:t>
            </a:r>
          </a:p>
        </p:txBody>
      </p:sp>
      <p:cxnSp>
        <p:nvCxnSpPr>
          <p:cNvPr id="10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124075" y="2114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D7C73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03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019550" y="2114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7A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04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248400" y="2114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7A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05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477250" y="2114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87A53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E4EED1-6F33-4028-8BCB-601D796F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核 / 核心问题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DBE591-F6EB-499B-9853-19094A72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Module 如何组织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77409F-79BF-461B-9D12-493286F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Claim 如何表达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A66759-C245-4646-960B-5AF38C38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相关工具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F292F0-B7C5-4AA9-B52A-8A6916AD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7D0DD9-56CB-41E0-9E04-3DB49AB1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E"/>
          </a:solidFill>
          <a:ln xmlns:a="http://schemas.openxmlformats.org/drawingml/2006/main" w="7620">
            <a:solidFill>
              <a:srgbClr val="E3E9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E3CFE6-6F42-409A-9A09-D3E6555E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529B"/>
          </a:solidFill>
          <a:ln xmlns:a="http://schemas.openxmlformats.org/drawingml/2006/main" w="0">
            <a:solidFill>
              <a:srgbClr val="64529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21D049-3681-47F5-897C-FF12E7AA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64529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4529B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95EABC-E33F-4428-924D-7C9C93BF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走到哪里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E9CB50-A086-4486-8BC2-454F65F2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52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项目 / 路径 / 关卡的稀疏导航片段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F01762-8288-4F45-97C6-1359460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52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当前位置 + 下一跳；不含掌握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ED3FD3-A0F5-4A09-930F-692B85BD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64529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4529B"/>
                </a:solidFill>
                <a:latin typeface="PingFang SC"/>
                <a:ea typeface="PingFang SC"/>
                <a:cs typeface="PingFang SC"/>
              </a:rPr>
              <a:t>路径读取 · 路线确认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4A2C7C-F7E2-4D02-83C4-DB24CF66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7620">
            <a:solidFill>
              <a:srgbClr val="E3E9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E4D5DE-AC2D-444F-86CD-8C284E74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D"/>
          </a:solidFill>
          <a:ln xmlns:a="http://schemas.openxmlformats.org/drawingml/2006/main" w="0">
            <a:solidFill>
              <a:srgbClr val="315E9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BB8A92-A43E-4184-A5C0-81D5ADD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E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5E9D"/>
                </a:solidFill>
                <a:latin typeface="PingFang SC"/>
                <a:ea typeface="PingFang SC"/>
                <a:cs typeface="PingFang SC"/>
              </a:rPr>
              <a:t>知识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4A7DAB-BE82-4B84-90D5-FDB90D91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理解到什么程度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81151A-D845-4DC1-81E8-48C44352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62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同一 concept key 的理解与冲突证据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1A40D0-4BB3-49C3-84B9-4F88C6E4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带评分依据；自述仅“接触过”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882C47-ACB4-4D21-8626-B5A65B19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62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315E9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E9D"/>
                </a:solidFill>
                <a:latin typeface="PingFang SC"/>
                <a:ea typeface="PingFang SC"/>
                <a:cs typeface="PingFang SC"/>
              </a:rPr>
              <a:t>五核读取 · 概念图 · 复习上下文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02B9E5-1088-4366-AAC8-8FAA99F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8"/>
          </a:solidFill>
          <a:ln xmlns:a="http://schemas.openxmlformats.org/drawingml/2006/main" w="7620">
            <a:solidFill>
              <a:srgbClr val="E3E9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29E6B9-15EE-4B2B-8EF1-71AA061A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038"/>
          </a:solidFill>
          <a:ln xmlns:a="http://schemas.openxmlformats.org/drawingml/2006/main" w="0">
            <a:solidFill>
              <a:srgbClr val="9B403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D62A96-27E5-4968-905E-C935064B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9B40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9B4038"/>
                </a:solidFill>
                <a:latin typeface="PingFang SC"/>
                <a:ea typeface="PingFang SC"/>
                <a:cs typeface="PingFang SC"/>
              </a:rPr>
              <a:t>人因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9C74F7-B881-4DE6-85D4-B0ECD081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怎样教更合适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BD56ED-3482-436A-93C9-10C3C672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72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负荷 / 节奏 / 讲法反馈的适配指令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FF8A85-5A6A-4677-A520-686592E8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“怎样支持”；不做人格标签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588656-EF51-4427-9D26-63CE8330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9B40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B4038"/>
                </a:solidFill>
                <a:latin typeface="PingFang SC"/>
                <a:ea typeface="PingFang SC"/>
                <a:cs typeface="PingFang SC"/>
              </a:rPr>
              <a:t>五核读取 · 画像编辑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21BE074-4243-4007-A3D2-60242A7B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7620">
            <a:solidFill>
              <a:srgbClr val="E3E9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E651DD-C775-40B7-A482-126BAF18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D12"/>
          </a:solidFill>
          <a:ln xmlns:a="http://schemas.openxmlformats.org/drawingml/2006/main" w="0">
            <a:solidFill>
              <a:srgbClr val="9B6D1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E1BF59-D62D-4678-9D90-6D91224A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149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9B6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9B6D12"/>
                </a:solidFill>
                <a:latin typeface="PingFang SC"/>
                <a:ea typeface="PingFang SC"/>
                <a:cs typeface="PingFang SC"/>
              </a:rPr>
              <a:t>价值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789CD9-54E4-4CE3-B74D-0F68B3F9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为什么现在学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3602A1-E30F-4BCB-A6B7-1A1828CE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81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方向 / 目标的候选—确认—撤回链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97C851-8B65-4DCC-9670-721E688D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只有明确确认的长期目标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B4E976-1ABB-4F2F-8CC8-8FFB2161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1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9B6D1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B6D12"/>
                </a:solidFill>
                <a:latin typeface="PingFang SC"/>
                <a:ea typeface="PingFang SC"/>
                <a:cs typeface="PingFang SC"/>
              </a:rPr>
              <a:t>路线规划 · 路线确认 · 画像编辑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E02D05-F036-4FDE-9CC8-3D2EB4CC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A"/>
          </a:solidFill>
          <a:ln xmlns:a="http://schemas.openxmlformats.org/drawingml/2006/main" w="7620">
            <a:solidFill>
              <a:srgbClr val="E3E9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B97048-90A1-459F-87C1-DE80A5DE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78"/>
          </a:solidFill>
          <a:ln xmlns:a="http://schemas.openxmlformats.org/drawingml/2006/main" w="0">
            <a:solidFill>
              <a:srgbClr val="167A7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01B59B-C402-455D-B3BB-3F274BA6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245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67A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7A78"/>
                </a:solidFill>
                <a:latin typeface="PingFang SC"/>
                <a:ea typeface="PingFang SC"/>
                <a:cs typeface="PingFang SC"/>
              </a:rPr>
              <a:t>实践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255836-0AF6-45C0-BF2C-A51BF50B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能否独立做出来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2EC732D-9E6D-4A75-BCAF-90B22D47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912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Attempt / 辅助 / 产物 / 迁移证据链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EDE7A7-ADE2-4396-A245-DA7B956C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91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独立性、辅助等级与迁移条件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139AD31-FA33-4FA8-A6C1-AEB64863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91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167A7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7A78"/>
                </a:solidFill>
                <a:latin typeface="PingFang SC"/>
                <a:ea typeface="PingFang SC"/>
                <a:cs typeface="PingFang SC"/>
              </a:rPr>
              <a:t>确定性判题 · 复习上下文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A438EE-FE38-4007-A480-37DFD049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111B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B2B"/>
                </a:solidFill>
                <a:latin typeface="PingFang SC"/>
                <a:ea typeface="PingFang SC"/>
                <a:cs typeface="PingFang SC"/>
              </a:rPr>
              <a:t>所有写入：EvidenceEvent → five_kernel_reducer；Module / Claim 只做可检查的长期投影。</a:t>
            </a:r>
          </a:p>
        </p:txBody>
      </p:sp>
    </p:spTree>
    <p:extLst>
      <p:ext uri="{BB962C8B-B14F-4D97-AF65-F5344CB8AC3E}">
        <p14:creationId xmlns:p14="http://schemas.microsoft.com/office/powerpoint/2010/main" val="380395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2026-08-26T12:40:28.8170000Z</dcterms:created>
  <dcterms:modified xsi:type="dcterms:W3CDTF">2026-08-26T12:40:28.8170000Z</dcterms:modified>
</coreProperties>
</file>